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2060"/>
                </a:solidFill>
                <a:latin typeface="Times New Roman"/>
              </a:defRPr>
            </a:pPr>
            <a:r>
              <a:rPr sz="1800" b="0" i="0" u="none" strike="noStrike">
                <a:solidFill>
                  <a:srgbClr val="002060"/>
                </a:solidFill>
                <a:latin typeface="Times New Roman"/>
              </a:rPr>
              <a:t>Steps to reach student #750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Steps</c:v>
                </c:pt>
              </c:strCache>
            </c:strRef>
          </c:tx>
          <c:spPr>
            <a:solidFill>
              <a:srgbClr val="4E9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11827"/>
                    </a:solidFill>
                    <a:latin typeface="Times New Roman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E9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652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Array</c:v>
                  </c:pt>
                  <c:pt idx="1">
                    <c:v>Linked list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750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11827"/>
                  </a:solidFill>
                  <a:latin typeface="Times New Roman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11827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280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02060"/>
                </a:solidFill>
                <a:latin typeface="Times New Roman"/>
              </a:defRPr>
            </a:pPr>
            <a:r>
              <a:rPr sz="1600" b="0" i="0" u="none" strike="noStrike">
                <a:solidFill>
                  <a:srgbClr val="002060"/>
                </a:solidFill>
                <a:latin typeface="Times New Roman"/>
              </a:rPr>
              <a:t>Comparisons per search (log scale)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Comparisons</c:v>
                </c:pt>
              </c:strCache>
            </c:strRef>
          </c:tx>
          <c:spPr>
            <a:solidFill>
              <a:srgbClr val="F26522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11827"/>
                    </a:solidFill>
                    <a:latin typeface="Times New Roman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652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5F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5F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E9A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Linear</c:v>
                  </c:pt>
                  <c:pt idx="1">
                    <c:v>Binary</c:v>
                  </c:pt>
                  <c:pt idx="2">
                    <c:v>BST</c:v>
                  </c:pt>
                  <c:pt idx="3">
                    <c:v>Hash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50000</c:v>
                </c:pt>
                <c:pt idx="1">
                  <c:v>16</c:v>
                </c:pt>
                <c:pt idx="2">
                  <c:v>16</c:v>
                </c:pt>
                <c:pt idx="3">
                  <c:v>1.4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1" i="0" strike="noStrike" sz="1400" u="none">
                  <a:solidFill>
                    <a:srgbClr val="111827"/>
                  </a:solidFill>
                  <a:latin typeface="Times New Roman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11827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00"/>
          <c:min val="1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course. Say that the presentation answers four questions, each with a different data structure: Array, Graph, Stack and Hash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problem: 1000 students' marks. A single int holds one mark, so we need a non-primitive structure to hold many marks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table. Array access is O(1) because the address is computed from the index. A linked list must walk node by node, so student #750 takes 750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short code. Direct indexing gives O(1) access and update; one loop gives the average in O(n). The only weakness, inserting in the middle, is rare for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Cities are vertices, roads are weighted edges. Roads form cycles and many-to-many links, which arrays, lists and trees cannot represent.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 maps are sparse, so an adjacency list uses O(V+E) memory instead of O(V squared). Dijkstra with a min-heap finds shortest paths in O((V+E) log V).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distances from A: C=2, B=3 (via C), D=8 (via B), E=10 (via D). The direct-looking C to E road would cost 12, so the longer-looking detour is actually shorter.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ADT defines behaviour, not implementation. The stack ADT gives push, pop, peek and isEmpty, all O(1). The latest visited page sits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Visit A, B, C: three pushes. First Back pops C and shows B. Second Back pops B and shows A. Each step touches only the top, so it is O(1). Popped pages go to a second stack for the Forward button.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the stack with an array that inserts at the front and with a queue. The stack gives O(1) visit and back, and its LIFO order matches the Back button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ISBN is a unique key and we only need exact-match lookup. Compare four candidates; the hash table jumps straight to the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Linear search may check all 50,000 records. Binary search and a balanced BST need about log2(50,000) which is 16 comparisons. A hash table needs about 1 to 2. The hash worst case O(n) needs every key to collide.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ISBN goes through the hash function to a bucket index; collisions are handled by chaining. With m=65,537 and 50,000 records the load factor is about 0.76, so a search takes about 1.4 comparisons. Then summarise all four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_WAV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AV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97280" y="2103120"/>
            <a:ext cx="9966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s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28600"/>
            <a:ext cx="658368" cy="781812"/>
          </a:xfrm>
          <a:prstGeom prst="rect">
            <a:avLst/>
          </a:prstGeom>
        </p:spPr>
      </p:pic>
      <p:pic>
        <p:nvPicPr>
          <p:cNvPr id="3" name="Image 1" descr="/home/claude/assets/logo_sim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9688" y="228600"/>
            <a:ext cx="877824" cy="777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CSA03 · Data Structures · Technical Presentation</a:t>
            </a: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92808" y="411480"/>
            <a:ext cx="8412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pic>
        <p:nvPicPr>
          <p:cNvPr id="3" name="Image 0" descr="/home/claude/assets/ban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7128" y="530352"/>
            <a:ext cx="7863840" cy="1206094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097280" y="2103120"/>
            <a:ext cx="9966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Choosing the Right Data Structure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Real-World Problems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79476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CSA03 - DATA STRUCTURES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251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Assessment Tool 2 · Technical Presentation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47091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Presented by: [Your Name]  ([Register Number])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865376" y="53492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56816" y="5349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Q1 · Array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014216" y="53492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05656" y="5349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Q2 · Graph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63056" y="53492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54496" y="5349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Q3 · Stack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311896" y="53492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3336" y="5349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Q4 · Hash Table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Primitive vs Non-Primitive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1 · Student marks management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173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problem: </a:t>
            </a:r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 the marks of 1000 students and support fast storing, reading, updating and averaging.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54406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C9D8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651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Primitive data structures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08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Hold a single value of fixed size.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5661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3566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11680" y="35661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03120" y="3566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float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246120" y="35661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337560" y="3566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480560" y="35661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0" y="3566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boolean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2062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mark = one int / float value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1000 separate variables are unmanageable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199632" y="2514600"/>
            <a:ext cx="54406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C9D8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28232" y="265176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Non-primitive data structures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6428232" y="3108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Built from primitives to group many values.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28232" y="35661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19672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28432" y="35661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19872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Linked list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628632" y="35661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20072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428232" y="40233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19672" y="4023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Queue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8028432" y="40233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119872" y="4023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628632" y="40233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720072" y="4023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428232" y="457200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Linear: array, linked list, stack, queue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Non-linear: tree, graph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002060"/>
          </a:solidFill>
          <a:ln w="6350">
            <a:solidFill>
              <a:srgbClr val="00206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760720"/>
            <a:ext cx="10725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Decision: keep the 1000 primitive marks together in a non-primitive structure: an Array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an Array Fits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1 · Efficiency of the data structure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Operation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Array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Linked list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Access mark by index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Update a mark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Search by value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Traverse (average)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Memory, 1000 marks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≈ 4 KB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≈ 16 KB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663440"/>
            <a:ext cx="5852160" cy="1417320"/>
          </a:xfrm>
          <a:prstGeom prst="roundRect">
            <a:avLst>
              <a:gd name="adj" fmla="val 6452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66344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Contiguous memory: </a:t>
            </a:r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address of marks[i] is base + i × 4 bytes, so any student is reached in one step, with no scanning.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Memory: int = 4 B; linked-list node = 4 B data + 8 B pointer, padded to 16 B.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675120" y="1417320"/>
          <a:ext cx="49834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Implementation &amp; Justification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1 · Array of 1000 marks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943600" cy="4114800"/>
          </a:xfrm>
          <a:prstGeom prst="roundRect">
            <a:avLst>
              <a:gd name="adj" fmla="val 2222"/>
            </a:avLst>
          </a:prstGeom>
          <a:solidFill>
            <a:srgbClr val="0B1F4B"/>
          </a:solidFill>
          <a:ln w="6350">
            <a:solidFill>
              <a:srgbClr val="0B1F4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5486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marks[1000];      // 1000 contiguous ints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marks[749] = 88;      // update  -&gt; O(1)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 = marks[749];   // access  -&gt; O(1)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sum = 0;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1000; i++)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+= marks[i];  // traverse -&gt; O(n)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 avg = sum / 1000.0;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the array is the right choice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858000" y="205740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2011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Fixed, known size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23591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Exactly 1000 students, so no resizing is needed.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0" y="297180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926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Index = position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32735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 number maps straight to marks[i]: O(1).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858000" y="388620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3840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Compact and fast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187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Contiguous memory, no pointer overhead.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858000" y="4800600"/>
            <a:ext cx="457200" cy="457200"/>
          </a:xfrm>
          <a:prstGeom prst="ellipse">
            <a:avLst/>
          </a:prstGeom>
          <a:solidFill>
            <a:srgbClr val="F26522"/>
          </a:solidFill>
          <a:ln w="6350">
            <a:solidFill>
              <a:srgbClr val="F2652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4754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Known trade-off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5102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 / delete in the middle is O(n), which is rare for marks.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002060"/>
          </a:solidFill>
          <a:ln w="6350">
            <a:solidFill>
              <a:srgbClr val="00206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5760720"/>
            <a:ext cx="10725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Time: access O(1) · traverse O(n)          Space: O(n)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 for City Navigation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2 · Non-linear data structure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943600" cy="1188720"/>
          </a:xfrm>
          <a:prstGeom prst="roundRect">
            <a:avLst>
              <a:gd name="adj" fmla="val 7692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need: </a:t>
            </a:r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 city connections and find the shortest route between any two locations.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97180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926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Cities are vertices, roads are weighted edges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32918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 = distance (km) or travel time.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977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Many-to-many links with cycles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43434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city connects to several others, and routes loop back.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5029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 structures and trees fall short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53949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Arrays, lists and stacks hold sequences; trees cannot contain cycles.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 road network (distances in km)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 flipV="1">
            <a:off x="7269480" y="2606040"/>
            <a:ext cx="1554480" cy="137160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269480" y="3977640"/>
            <a:ext cx="1554480" cy="137160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823960" y="2606040"/>
            <a:ext cx="0" cy="274320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3960" y="2606040"/>
            <a:ext cx="2103120" cy="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8823960" y="2606040"/>
            <a:ext cx="2103120" cy="274320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823960" y="5349240"/>
            <a:ext cx="2103120" cy="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927080" y="2606040"/>
            <a:ext cx="0" cy="274320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9832" y="31455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9832" y="31455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799832" y="45171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99832" y="45171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8577072" y="38313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577072" y="38313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628632" y="24597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28632" y="24597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628632" y="38313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28632" y="38313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9628632" y="52029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628632" y="52029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0680192" y="38313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680192" y="38313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949440" y="3657600"/>
            <a:ext cx="640080" cy="640080"/>
          </a:xfrm>
          <a:prstGeom prst="ellipse">
            <a:avLst/>
          </a:prstGeom>
          <a:solidFill>
            <a:srgbClr val="00206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94944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8503920" y="2286000"/>
            <a:ext cx="640080" cy="640080"/>
          </a:xfrm>
          <a:prstGeom prst="ellipse">
            <a:avLst/>
          </a:prstGeom>
          <a:solidFill>
            <a:srgbClr val="00206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50392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503920" y="5029200"/>
            <a:ext cx="640080" cy="640080"/>
          </a:xfrm>
          <a:prstGeom prst="ellipse">
            <a:avLst/>
          </a:prstGeom>
          <a:solidFill>
            <a:srgbClr val="00206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50392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10607040" y="2286000"/>
            <a:ext cx="640080" cy="640080"/>
          </a:xfrm>
          <a:prstGeom prst="ellipse">
            <a:avLst/>
          </a:prstGeom>
          <a:solidFill>
            <a:srgbClr val="00206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070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10607040" y="5029200"/>
            <a:ext cx="640080" cy="640080"/>
          </a:xfrm>
          <a:prstGeom prst="ellipse">
            <a:avLst/>
          </a:prstGeom>
          <a:solidFill>
            <a:srgbClr val="00206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6070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Representation &amp; Algorithm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2 · Adjacency list + Dijkstra's algorithm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965960"/>
                <a:gridCol w="19659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Criterion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Adjacency matrix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Adjacency list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Space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O(V²)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O(V + E)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Check edge u–v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O(deg u)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List neighbours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O(V)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O(deg u)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Best for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Dense graphs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Sparse (roads)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480560"/>
            <a:ext cx="6035040" cy="1325880"/>
          </a:xfrm>
          <a:prstGeom prst="roundRect">
            <a:avLst>
              <a:gd name="adj" fmla="val 6897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480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 maps are sparse: </a:t>
            </a:r>
            <a:pPr indent="0" marL="0">
              <a:buNone/>
            </a:pPr>
            <a:r>
              <a:rPr lang="en-US" sz="15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city links to only a few others, so the adjacency list saves memory and scans neighbours faster.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6995160" y="14630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Dijkstra's shortest-path algorithm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995160" y="201168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9951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635240" y="18973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 distance 0 for the source and ∞ for every other city.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95160" y="278892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951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35240" y="26746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 the unvisited city with the smallest distance (min-heap).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995160" y="356616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9516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7635240" y="34518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Relax its roads: update a neighbour if a shorter path is found.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995160" y="434340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99516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7635240" y="42291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Repeat until the destination is visited.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995160" y="5257800"/>
            <a:ext cx="4645152" cy="54864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086600" y="5257800"/>
            <a:ext cx="4462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O((V + E) log V) with a min-heap · Space O(V)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Dijkstra in Action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2 · Shortest route from A to 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Shortest path A → E highlighted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 flipV="1">
            <a:off x="1143000" y="2606040"/>
            <a:ext cx="1554480" cy="137160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3977640"/>
            <a:ext cx="1554480" cy="1371600"/>
          </a:xfrm>
          <a:prstGeom prst="line">
            <a:avLst/>
          </a:prstGeom>
          <a:noFill/>
          <a:ln w="63500">
            <a:solidFill>
              <a:srgbClr val="F2652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697480" y="2606040"/>
            <a:ext cx="0" cy="2743200"/>
          </a:xfrm>
          <a:prstGeom prst="line">
            <a:avLst/>
          </a:prstGeom>
          <a:noFill/>
          <a:ln w="63500">
            <a:solidFill>
              <a:srgbClr val="F2652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97480" y="2606040"/>
            <a:ext cx="2103120" cy="0"/>
          </a:xfrm>
          <a:prstGeom prst="line">
            <a:avLst/>
          </a:prstGeom>
          <a:noFill/>
          <a:ln w="63500">
            <a:solidFill>
              <a:srgbClr val="F2652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2606040"/>
            <a:ext cx="2103120" cy="274320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97480" y="5349240"/>
            <a:ext cx="2103120" cy="0"/>
          </a:xfrm>
          <a:prstGeom prst="line">
            <a:avLst/>
          </a:prstGeom>
          <a:noFill/>
          <a:ln w="31750">
            <a:solidFill>
              <a:srgbClr val="9DB4D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00600" y="2606040"/>
            <a:ext cx="0" cy="2743200"/>
          </a:xfrm>
          <a:prstGeom prst="line">
            <a:avLst/>
          </a:prstGeom>
          <a:noFill/>
          <a:ln w="63500">
            <a:solidFill>
              <a:srgbClr val="F2652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73352" y="31455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673352" y="31455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73352" y="45171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673352" y="45171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450592" y="38313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50592" y="38313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502152" y="24597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02152" y="24597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502152" y="38313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502152" y="38313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502152" y="52029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02152" y="52029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53712" y="3831336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C9D8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53712" y="383133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22960" y="3657600"/>
            <a:ext cx="640080" cy="640080"/>
          </a:xfrm>
          <a:prstGeom prst="ellipse">
            <a:avLst/>
          </a:prstGeom>
          <a:solidFill>
            <a:srgbClr val="4E9A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377440" y="2286000"/>
            <a:ext cx="640080" cy="640080"/>
          </a:xfrm>
          <a:prstGeom prst="ellipse">
            <a:avLst/>
          </a:prstGeom>
          <a:solidFill>
            <a:srgbClr val="00206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3774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77440" y="5029200"/>
            <a:ext cx="640080" cy="640080"/>
          </a:xfrm>
          <a:prstGeom prst="ellipse">
            <a:avLst/>
          </a:prstGeom>
          <a:solidFill>
            <a:srgbClr val="00206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774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4480560" y="2286000"/>
            <a:ext cx="640080" cy="640080"/>
          </a:xfrm>
          <a:prstGeom prst="ellipse">
            <a:avLst/>
          </a:prstGeom>
          <a:solidFill>
            <a:srgbClr val="00206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4805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4480560" y="5029200"/>
            <a:ext cx="640080" cy="640080"/>
          </a:xfrm>
          <a:prstGeom prst="ellipse">
            <a:avLst/>
          </a:prstGeom>
          <a:solidFill>
            <a:srgbClr val="F2652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48056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46304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City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Distance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Shortest path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 km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→ C → 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 km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→ C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 km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→ C → B → D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 km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→ C → B → D → 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38" name="Shape 34"/>
          <p:cNvSpPr/>
          <p:nvPr/>
        </p:nvSpPr>
        <p:spPr>
          <a:xfrm>
            <a:off x="6126480" y="4206240"/>
            <a:ext cx="5486400" cy="1783080"/>
          </a:xfrm>
          <a:prstGeom prst="roundRect">
            <a:avLst>
              <a:gd name="adj" fmla="val 5128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355080" y="4297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 C → E costs 2 + 10 = 12 km; the detour costs 10 km.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Greedy choice is safe: road lengths are never negative.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 found in O((V + E) log V).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 ADT for Browser History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3 · Last In, First Out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need: </a:t>
            </a:r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Back button must return to the most recently visited page first.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9144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Operation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Purpose in a browser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Time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push(page)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Add a visited page on top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pop()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Back: remove current page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peek()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Read the current page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isEmpty()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 page left to go back to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349240"/>
            <a:ext cx="5760720" cy="868680"/>
          </a:xfrm>
          <a:prstGeom prst="roundRect">
            <a:avLst>
              <a:gd name="adj" fmla="val 10526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3492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ADT fixes the behaviour (push, pop, peek); it can be built on an array or a linked list.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26060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Browser history stack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7772400" y="310896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00206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0" y="31089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C · current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772400" y="388620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1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0" y="38862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72400" y="466344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9DB4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0" y="46634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A · first visited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6812280" y="3108960"/>
            <a:ext cx="868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265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 ►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5486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push / pop happen only at the top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the Back Button Works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3 · Push on visit, pop on Back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 Visit pages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09728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A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97280" y="329184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32918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B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097280" y="265176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F26522"/>
          </a:solidFill>
          <a:ln w="6350">
            <a:solidFill>
              <a:srgbClr val="F2652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2651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C · shown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6634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push(A), push(B), push(C): the current page C is on top.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931920" y="3063240"/>
            <a:ext cx="411480" cy="365760"/>
          </a:xfrm>
          <a:prstGeom prst="rightArrow">
            <a:avLst/>
          </a:prstGeom>
          <a:solidFill>
            <a:srgbClr val="9DB4D6"/>
          </a:solidFill>
          <a:ln w="6350">
            <a:solidFill>
              <a:srgbClr val="9DB4D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34840" y="146304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628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 Click Back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498348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8348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A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983480" y="329184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F26522"/>
          </a:solidFill>
          <a:ln w="6350">
            <a:solidFill>
              <a:srgbClr val="F2652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83480" y="32918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B · shown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983480" y="265176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9DB4D6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4983480" y="2651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(popped)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434840" y="46634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pop() removes C and page B is shown. One step: O(1).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818120" y="3063240"/>
            <a:ext cx="411480" cy="365760"/>
          </a:xfrm>
          <a:prstGeom prst="rightArrow">
            <a:avLst/>
          </a:prstGeom>
          <a:solidFill>
            <a:srgbClr val="9DB4D6"/>
          </a:solidFill>
          <a:ln w="6350">
            <a:solidFill>
              <a:srgbClr val="9DB4D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21040" y="146304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1248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 Click Back again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886968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F26522"/>
          </a:solidFill>
          <a:ln w="6350">
            <a:solidFill>
              <a:srgbClr val="F2652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6968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Page A · shown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869680" y="329184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9DB4D6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8869680" y="32918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 (popped)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869680" y="265176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9DB4D6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8869680" y="2651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(popped)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6634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pop() removes B and page A is shown. Still O(1).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002060"/>
          </a:solidFill>
          <a:ln w="6350">
            <a:solidFill>
              <a:srgbClr val="00206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" y="5760720"/>
            <a:ext cx="10725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Forward button: popped pages go onto a second stack, so Forward is also O(1)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Performance Efficiency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3 · Why a stack beats the alternatives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9144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Operation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Stack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Array (front)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Queue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Visit new page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Go back one page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Wrong page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Order fits Back button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LIFO ✓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Possible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FIFO ✗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Memory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480560"/>
            <a:ext cx="6766560" cy="1463040"/>
          </a:xfrm>
          <a:prstGeom prst="roundRect">
            <a:avLst>
              <a:gd name="adj" fmla="val 6250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4805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the top element is touched: no searching, no shifting.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 stays instant even after thousands of pages.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680960" y="1463040"/>
            <a:ext cx="3959352" cy="2103120"/>
          </a:xfrm>
          <a:prstGeom prst="roundRect">
            <a:avLst>
              <a:gd name="adj" fmla="val 4348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80960" y="1645920"/>
            <a:ext cx="3959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O(1)</a:t>
            </a:r>
            <a:endParaRPr lang="en-US" sz="6000" dirty="0"/>
          </a:p>
        </p:txBody>
      </p:sp>
      <p:sp>
        <p:nvSpPr>
          <p:cNvPr id="10" name="Text 6"/>
          <p:cNvSpPr txBox="1"/>
          <p:nvPr/>
        </p:nvSpPr>
        <p:spPr>
          <a:xfrm>
            <a:off x="7863840" y="2788920"/>
            <a:ext cx="3593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 visit, Back and peek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680960" y="3840480"/>
            <a:ext cx="3959352" cy="2103120"/>
          </a:xfrm>
          <a:prstGeom prst="roundRect">
            <a:avLst>
              <a:gd name="adj" fmla="val 4348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80960" y="4023360"/>
            <a:ext cx="3959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O(n)</a:t>
            </a:r>
            <a:endParaRPr lang="en-US" sz="60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5166360"/>
            <a:ext cx="3593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space: one entry per visited page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Searching 50,000 ISBN Records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4 · Candidate data structures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need: </a:t>
            </a:r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a book by its ISBN among 50,000 records quickly, for every search.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60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Candidate data structures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3017520"/>
            <a:ext cx="26517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9050">
            <a:solidFill>
              <a:srgbClr val="C9D8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Unsorted list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206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records one by one.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731520" y="4937760"/>
            <a:ext cx="2286000" cy="41148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937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O(n)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62249" y="3017520"/>
            <a:ext cx="26517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9050">
            <a:solidFill>
              <a:srgbClr val="C9D8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45129" y="320040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545129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545129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Sorted array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545129" y="4206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Binary search halves the range; inserts cost O(n).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3545129" y="4937760"/>
            <a:ext cx="2286000" cy="41148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36569" y="4937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O(log n)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175858" y="3017520"/>
            <a:ext cx="26517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9050">
            <a:solidFill>
              <a:srgbClr val="C9D8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58738" y="3200400"/>
            <a:ext cx="457200" cy="457200"/>
          </a:xfrm>
          <a:prstGeom prst="ellipse">
            <a:avLst/>
          </a:prstGeom>
          <a:solidFill>
            <a:srgbClr val="1F5FA8"/>
          </a:solidFill>
          <a:ln w="6350">
            <a:solidFill>
              <a:srgbClr val="1F5FA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5873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58738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Balanced BST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58738" y="4206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left or right by comparing keys.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358738" y="4937760"/>
            <a:ext cx="2286000" cy="41148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 w="12700">
            <a:solidFill>
              <a:srgbClr val="1F5FA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50178" y="4937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O(log n)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989466" y="3017520"/>
            <a:ext cx="2651760" cy="2514600"/>
          </a:xfrm>
          <a:prstGeom prst="roundRect">
            <a:avLst>
              <a:gd name="adj" fmla="val 3636"/>
            </a:avLst>
          </a:prstGeom>
          <a:solidFill>
            <a:srgbClr val="002060"/>
          </a:solidFill>
          <a:ln w="19050">
            <a:solidFill>
              <a:srgbClr val="00206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72346" y="3200400"/>
            <a:ext cx="457200" cy="457200"/>
          </a:xfrm>
          <a:prstGeom prst="ellipse">
            <a:avLst/>
          </a:prstGeom>
          <a:solidFill>
            <a:srgbClr val="F26522"/>
          </a:solidFill>
          <a:ln w="6350">
            <a:solidFill>
              <a:srgbClr val="F2652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17234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172346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Hash table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9172346" y="42062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Compute the bucket straight from the key.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9172346" y="4937760"/>
            <a:ext cx="2286000" cy="411480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 w="12700">
            <a:solidFill>
              <a:srgbClr val="F2652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263786" y="4937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O(1) average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002060"/>
          </a:solidFill>
          <a:ln w="6350">
            <a:solidFill>
              <a:srgbClr val="00206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31520" y="5715000"/>
            <a:ext cx="10725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ISBN is a unique key and only exact-match lookup is needed → Hash table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Complexity Comparison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4 · Searching n = 50,000 records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371600"/>
                <a:gridCol w="173736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Structure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Average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Worst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 = 50,000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Linear search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65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≤ 50,000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Binary search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O(log 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O(log 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≈ 16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Balanced BST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O(log 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O(log 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≈ 16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Hash table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O(1)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O(n)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E9A2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≈ 1.4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663440"/>
            <a:ext cx="6583680" cy="1280160"/>
          </a:xfrm>
          <a:prstGeom prst="roundRect">
            <a:avLst>
              <a:gd name="adj" fmla="val 7143"/>
            </a:avLst>
          </a:prstGeom>
          <a:solidFill>
            <a:srgbClr val="EAF1FB"/>
          </a:solidFill>
          <a:ln w="6350">
            <a:solidFill>
              <a:srgbClr val="EAF1F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66344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Hash worst case O(n) </a:t>
            </a:r>
            <a:pPr indent="0" marL="0">
              <a:buNone/>
            </a:pPr>
            <a:r>
              <a:rPr lang="en-US" sz="155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happens only if every key collides. A good hash function and a load factor near 0.76 keep chains short.</a:t>
            </a:r>
            <a:endParaRPr lang="en-US" sz="15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06640" y="1417320"/>
          <a:ext cx="4297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1371600" y="201168"/>
            <a:ext cx="9445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Hash Design &amp; Conclusion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868680"/>
            <a:ext cx="9445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F5F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4 · How the hash table works, and the summary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9050">
            <a:solidFill>
              <a:srgbClr val="1F5F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63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ISBN-13 key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17520" y="1755648"/>
            <a:ext cx="365760" cy="329184"/>
          </a:xfrm>
          <a:prstGeom prst="rightArrow">
            <a:avLst/>
          </a:prstGeom>
          <a:solidFill>
            <a:srgbClr val="9DB4D6"/>
          </a:solidFill>
          <a:ln w="6350">
            <a:solidFill>
              <a:srgbClr val="9DB4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74720" y="146304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9050">
            <a:solidFill>
              <a:srgbClr val="00206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463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hash(key) = key mod 65,537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943600" y="1755648"/>
            <a:ext cx="365760" cy="329184"/>
          </a:xfrm>
          <a:prstGeom prst="rightArrow">
            <a:avLst/>
          </a:prstGeom>
          <a:solidFill>
            <a:srgbClr val="9DB4D6"/>
          </a:solidFill>
          <a:ln w="6350">
            <a:solidFill>
              <a:srgbClr val="9DB4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146304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9050">
            <a:solidFill>
              <a:srgbClr val="1F5F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1463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Bucket index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869680" y="1755648"/>
            <a:ext cx="365760" cy="329184"/>
          </a:xfrm>
          <a:prstGeom prst="rightArrow">
            <a:avLst/>
          </a:prstGeom>
          <a:solidFill>
            <a:srgbClr val="9DB4D6"/>
          </a:solidFill>
          <a:ln w="6350">
            <a:solidFill>
              <a:srgbClr val="9DB4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326880" y="1463040"/>
            <a:ext cx="2377440" cy="9144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9050">
            <a:solidFill>
              <a:srgbClr val="1F5FA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18320" y="1463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Chain of records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2697480"/>
            <a:ext cx="54864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9050">
            <a:solidFill>
              <a:srgbClr val="C9D8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2834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choices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383280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Table size m = 65,537 (prime): load factor α = 50,000 / 65,537 ≈ 0.76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Collisions: separate chaining (a short list per bucket)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search ≈ 1 + α/2 ≈ 1.4 comparisons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 and delete are also O(1) on average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309360" y="2697480"/>
            <a:ext cx="5330952" cy="3429000"/>
          </a:xfrm>
          <a:prstGeom prst="roundRect">
            <a:avLst>
              <a:gd name="adj" fmla="val 2667"/>
            </a:avLst>
          </a:prstGeom>
          <a:solidFill>
            <a:srgbClr val="002060"/>
          </a:solidFill>
          <a:ln w="6350">
            <a:solidFill>
              <a:srgbClr val="00206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37960" y="2834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B2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Q1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337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Marks of 1000 students →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Array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38862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B2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Q2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886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City routes →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 + Dijkstra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4348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B2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Q3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4348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Browser Back →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 (LIFO)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4983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B2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Q4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49834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ISBN search →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Hash table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537960" y="5532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Right structure for the right operations.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TS Technical">
  <a:themeElements>
    <a:clrScheme name="SIMATS Technical">
      <a:dk1>
        <a:srgbClr val="111827"/>
      </a:dk1>
      <a:lt1>
        <a:srgbClr val="FFFFFF"/>
      </a:lt1>
      <a:dk2>
        <a:srgbClr val="002060"/>
      </a:dk2>
      <a:lt2>
        <a:srgbClr val="EAF1FB"/>
      </a:lt2>
      <a:accent1>
        <a:srgbClr val="1F5FA8"/>
      </a:accent1>
      <a:accent2>
        <a:srgbClr val="F26522"/>
      </a:accent2>
      <a:accent3>
        <a:srgbClr val="6DB33F"/>
      </a:accent3>
      <a:accent4>
        <a:srgbClr val="9DB4D6"/>
      </a:accent4>
      <a:accent5>
        <a:srgbClr val="0B1F4B"/>
      </a:accent5>
      <a:accent6>
        <a:srgbClr val="6B7280"/>
      </a:accent6>
      <a:hlink>
        <a:srgbClr val="1F5FA8"/>
      </a:hlink>
      <a:folHlink>
        <a:srgbClr val="6B7280"/>
      </a:folHlink>
    </a:clrScheme>
    <a:fontScheme name="SIMATS Technical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Technical Presentation - Data Structures (CSA03)</dc:title>
  <dc:subject>PptxGenJS Presentation</dc:subject>
  <dc:creator>SIMATS Engineering</dc:creator>
  <cp:lastModifiedBy>SIMATS Engineering</cp:lastModifiedBy>
  <cp:revision>1</cp:revision>
  <dcterms:created xsi:type="dcterms:W3CDTF">2026-10-09T03:10:15Z</dcterms:created>
  <dcterms:modified xsi:type="dcterms:W3CDTF">2026-10-09T03:10:15Z</dcterms:modified>
</cp:coreProperties>
</file>